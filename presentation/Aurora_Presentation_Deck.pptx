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0" y="1280160"/>
            <a:ext cx="292608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Inter"/>
              </a:defRPr>
            </a:pPr>
            <a:r>
              <a:t>🛡️ COMPOSITE RISK GUARDIAN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8FAFC"/>
                </a:solidFill>
                <a:latin typeface="Inter"/>
              </a:defRPr>
            </a:pPr>
            <a:r>
              <a:t>Aurora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0175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8BDF8"/>
                </a:solidFill>
                <a:latin typeface="Inter"/>
              </a:defRPr>
            </a:pPr>
            <a:r>
              <a:t>A personal safety system that acts before you have to ask.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Continuous multi-signal behavioral telemetry • Anti-coercion check-in • 100% on-device privacy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8463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Inter"/>
              </a:defRPr>
            </a:pPr>
            <a:r>
              <a:t>Hackathon Submission 2026  |  Production Deployment &amp; Architecture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Inter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The Critical Flaw of Reactive Safety Apps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Inter"/>
              </a:defRPr>
            </a:pPr>
            <a:r>
              <a:t>🚨 The Manual Action Fallacy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Most apps assume the victim can recognize danger and act mid-crisis (unlock phone, open app, press button). Under real panic, restraint, or distraction, that assumption fails.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002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Inter"/>
              </a:defRPr>
            </a:pPr>
            <a:r>
              <a:t>🤐 The Coercion Blindspot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Attackers routinely force victims to unlock phones and reply "I'm fine." Existing check-in systems treat any reassuring response as safety confirmation and stand down.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5257800" cy="2240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Inter"/>
              </a:defRPr>
            </a:pPr>
            <a:r>
              <a:t>⏱️ Hesitation &amp; Fear of Embarrassment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Users hesitate to trigger panic buttons out of social embarrassment or false-alarm fear until it is already too late for early prevention.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794760"/>
            <a:ext cx="5257800" cy="2240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02336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Inter"/>
              </a:defRPr>
            </a:pPr>
            <a:r>
              <a:t>🔋 Always-On Fatigue &amp; Disablement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Constant 24/7 family GPS tracking causes heavy battery drain and surveillance discomfort on both ends, leading users to disable safety features entirely.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Inter"/>
              </a:defRPr>
            </a:pPr>
            <a:r>
              <a:t>CORE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Inverting the Safety Model: Default Toward Caution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Inter"/>
              </a:defRPr>
            </a:pPr>
            <a:r>
              <a:t>TRADITIONAL MODEL: REACTIVE</a:t>
            </a:r>
          </a:p>
          <a:p>
            <a:pPr>
              <a:spcBef>
                <a:spcPts val="600"/>
              </a:spcBef>
              <a:defRPr sz="2000" b="1">
                <a:solidFill>
                  <a:srgbClr val="F8FAFC"/>
                </a:solidFill>
                <a:latin typeface="Inter"/>
              </a:defRPr>
            </a:pPr>
            <a:r>
              <a:t>Assumes Safe Until Explicit Panic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• Passive state: App sleeps until manual trigger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• Danger response: Waits for user to unlock and press SOS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• Verification: Any response ("I'm fine") dismisses alert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• Result: Fails completely if user is restrained or coerced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463040"/>
            <a:ext cx="5257800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9164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Inter"/>
              </a:defRPr>
            </a:pPr>
            <a:r>
              <a:t>AURORA MODEL: PROACTIVE</a:t>
            </a:r>
          </a:p>
          <a:p>
            <a:pPr>
              <a:spcBef>
                <a:spcPts val="600"/>
              </a:spcBef>
              <a:defRPr sz="2000" b="1">
                <a:solidFill>
                  <a:srgbClr val="F8FAFC"/>
                </a:solidFill>
                <a:latin typeface="Inter"/>
              </a:defRPr>
            </a:pPr>
            <a:r>
              <a:t>Assumes Risk Upon Anomalies; Proof Required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• Continuous telemetry: Evaluates speed, stillness, time, zones, battery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• Multi-factor compounding: Correlated risks trigger quiet check-in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• Strict safe-word stand-down: Only exact private word cancels alert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• Fail-Closed: Silence or wrong word instantly escalates to SOS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Inter"/>
              </a:defRPr>
            </a:pPr>
            <a:r>
              <a:t>ENGINE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Composite Risk Scoring Engine (0 – 100)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Inter"/>
              </a:defRPr>
            </a:pPr>
            <a:r>
              <a:t>1. Passive Input Signals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Transit Pace (Walk / Accelerating / Sprint)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Stillness Duration (Stationary seconds)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Time of Day (Day vs Night Diurnal Cycle)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Route Familiarity (500m Geofenced Zones)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Battery Discharge (Gradual vs Instant Plunge)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Crowd Density (Isolated vs Populated Area)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383280" cy="4846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Inter"/>
              </a:defRPr>
            </a:pPr>
            <a:r>
              <a:t>2. Compounding &amp; Decay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Correlated Cross-Signal Multipliers: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   2 Factors: 1.15x  |  3 Factors: 1.25x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   4+ Factors: 1.35x compounding multiplier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Asymmetric Response Dynamics: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   Instant Escalation: Threat bursts jump score immediately without sluggish lag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   Gradual Temporal Decay: 0.5 pts/sec (30 pts/min) de-escalation once calm returns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371600"/>
            <a:ext cx="3474720" cy="4846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Inter"/>
              </a:defRPr>
            </a:pPr>
            <a:r>
              <a:t>3. Worked Threat Scenario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Inter"/>
              </a:defRPr>
            </a:pPr>
            <a:r>
              <a:t>Scenario: Night Evasive Sprint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Inter"/>
              </a:defRPr>
            </a:pPr>
            <a:r>
              <a:t>• Night Vulnerability Baseline (+15 pts)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Inter"/>
              </a:defRPr>
            </a:pPr>
            <a:r>
              <a:t>• Unfamiliar Route Perimeter (+12 pts)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Inter"/>
              </a:defRPr>
            </a:pPr>
            <a:r>
              <a:t>• Deserted Isolated Area (+10 pts)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Inter"/>
              </a:defRPr>
            </a:pPr>
            <a:r>
              <a:t>• Sudden Accelerating Pace (+15 pts)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Inter"/>
              </a:defRPr>
            </a:pPr>
            <a:r>
              <a:t>• 4-Factor Compounding (1.35x Multiplier)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Inter"/>
              </a:defRPr>
            </a:pPr>
            <a:r>
              <a:t>─────────────────────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  <a:latin typeface="Inter"/>
              </a:defRPr>
            </a:pPr>
            <a:r>
              <a:t>Formula: (15 + 12 + 10 + 15) x 1.35 = 70.2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  <a:latin typeface="Inter"/>
              </a:defRPr>
            </a:pPr>
            <a:r>
              <a:t>RESULT: Score 70 / 100  -&gt;  [HIGH TIER]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Inter"/>
              </a:defRPr>
            </a:pPr>
            <a:r>
              <a:t>Trigger: Quiet Safe-Word Check-In Prompt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Inter"/>
              </a:defRPr>
            </a:pPr>
            <a:r>
              <a:t>VERIFICATION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Fail-Closed Anti-Coercion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2801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Inter"/>
              </a:defRPr>
            </a:pPr>
            <a:r>
              <a:t>CORE INSIGHT: Coerced Confirmations Are Inherently Untrustworthy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  <a:latin typeface="Inter"/>
              </a:defRPr>
            </a:pPr>
            <a:r>
              <a:t>In an active confrontation, a victim can easily be intimidated into typing "I am okay" or tapping an "I'm safe" button. Traditional apps cancel alerts upon receiving reassurance — Aurora treats unauthenticated reassurance as an active coercion indicator.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3413455" cy="3383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295625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Inter"/>
              </a:defRPr>
            </a:pPr>
            <a:r>
              <a:t>1. Elevated Risk Trigger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When composite score crosses into Elevated/High tier, Aurora suppresses alarms and presents a discreet verification prompt without alerting bystanders.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834640"/>
            <a:ext cx="3413455" cy="3383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3017520"/>
            <a:ext cx="295625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Inter"/>
              </a:defRPr>
            </a:pPr>
            <a:r>
              <a:t>2. Strict Secret Safe Word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Only the user's secret arbitrary phrase (e.g. "AURORA7") stands down the alert. Typing "I'm fine" or any wrong word immediately triggers Emergency SOS.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834640"/>
            <a:ext cx="3413455" cy="3383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3017520"/>
            <a:ext cx="295625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Inter"/>
              </a:defRPr>
            </a:pPr>
            <a:r>
              <a:t>3. Silence Escalation Timeline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Complete silence gives 3 timed retry windows (30s window + 10s gap). If unanswered after 3 attempts, Emergency SOS automatically broadcasts.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Inter"/>
              </a:defRPr>
            </a:pPr>
            <a:r>
              <a:t>PRIVACY &amp;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Session-Scoped Sharing vs Always-On Surveillance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3455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956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Inter"/>
              </a:defRPr>
            </a:pPr>
            <a:r>
              <a:t>👤 Solo Mode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Inter"/>
              </a:defRPr>
            </a:pPr>
            <a:r>
              <a:t>Zero Sharing by Default</a:t>
            </a:r>
          </a:p>
          <a:p>
            <a:pPr>
              <a:spcBef>
                <a:spcPts val="1200"/>
              </a:spcBef>
              <a:defRPr sz="1250">
                <a:solidFill>
                  <a:srgbClr val="94A3B8"/>
                </a:solidFill>
                <a:latin typeface="Inter"/>
              </a:defRPr>
            </a:pPr>
            <a:r>
              <a:t>Designed for maximum privacy. All risk evaluation, sensors, and state remain 100% on-device. Nothing is ever broadcast to anyone except when the user or silence escalates to local Emergency SOS links.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3455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91640"/>
            <a:ext cx="2956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Inter"/>
              </a:defRPr>
            </a:pPr>
            <a:r>
              <a:t>👥 Connected Mode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Inter"/>
              </a:defRPr>
            </a:pPr>
            <a:r>
              <a:t>Emergency-Only Circle</a:t>
            </a:r>
          </a:p>
          <a:p>
            <a:pPr>
              <a:spcBef>
                <a:spcPts val="1200"/>
              </a:spcBef>
              <a:defRPr sz="1250">
                <a:solidFill>
                  <a:srgbClr val="94A3B8"/>
                </a:solidFill>
                <a:latin typeface="Inter"/>
              </a:defRPr>
            </a:pPr>
            <a:r>
              <a:t>Configures 1 to 3 trusted contacts. Circle is never notified during routine safe commutes. Contacts are only alerted during genuine emergencies (Critical tier transitions or Emergency SOS dispatch).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91640"/>
            <a:ext cx="2956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Inter"/>
              </a:defRPr>
            </a:pPr>
            <a:r>
              <a:t>📍 Live Journey Share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Inter"/>
              </a:defRPr>
            </a:pPr>
            <a:r>
              <a:t>Time-Boxed Active Walk</a:t>
            </a:r>
          </a:p>
          <a:p>
            <a:pPr>
              <a:spcBef>
                <a:spcPts val="1200"/>
              </a:spcBef>
              <a:defRPr sz="1250">
                <a:solidFill>
                  <a:srgbClr val="94A3B8"/>
                </a:solidFill>
                <a:latin typeface="Inter"/>
              </a:defRPr>
            </a:pPr>
            <a:r>
              <a:t>User explicitly starts monitoring before a specific walk (e.g. night transit) and it auto-terminates on arrival. Sharing is strictly scoped to moments the user chooses, completely eliminating notification fatigue.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Inter"/>
              </a:defRPr>
            </a:pPr>
            <a:r>
              <a:t>MARKET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Genuinely Novel Differentiators vs Market Apps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8655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Inter"/>
              </a:defRPr>
            </a:pPr>
            <a:r>
              <a:t>Reference Benchmark: Established safety apps (Life360, Noonlight, bSafe, Safetipin) rely on manual panic buttons or static pre-computed neighborhood scores. None combine live multi-signal behavioral fusion with fail-closed coercion defense.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5257800" cy="1965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800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1. Live Multi-Signal Fusion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Existing apps score an area once in advance; Aurora scores a dynamic live moment as it happens by continuously compounding kinematics, diurnal time, geofencing, and battery telemetry.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240280"/>
            <a:ext cx="5257800" cy="1965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4800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2. Fail-Closed Safe Word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Existing panic buttons treat any tap as safe; Aurora defaults to security — silence and false reassurance fail closed and immediately arm Emergency SOS.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5257800" cy="1965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26280"/>
            <a:ext cx="4800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3. Session-Scoped Privacy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Eliminates standing 24/7 location tracking. Users activate Live Journey Sharing only when needed, avoiding notification fatigue and privacy erosion.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343400"/>
            <a:ext cx="5257800" cy="1965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526280"/>
            <a:ext cx="4800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Inter"/>
              </a:defRPr>
            </a:pPr>
            <a:r>
              <a:t>4. Reusable Modular Core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Pure-function scoring engine decoupled from UI. Can swap risk 'lenses' (e.g. medical falls, pregnancy, elder care) without rewriting app architecture.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Inter"/>
              </a:defRPr>
            </a:pPr>
            <a:r>
              <a:t>PRODUCT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Live Application Interfaces (Deployed &amp; Running)</a:t>
            </a:r>
          </a:p>
        </p:txBody>
      </p:sp>
      <p:pic>
        <p:nvPicPr>
          <p:cNvPr id="4" name="Picture 3" descr="screen_risk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3413455" cy="63970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94960"/>
            <a:ext cx="34134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Inter"/>
              </a:defRPr>
            </a:pPr>
            <a:r>
              <a:t>1. Threat Radar &amp; Guard HUD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Circular gauge, diurnal &amp; GPS chips, and AI contributing factors breakdown.</a:t>
            </a:r>
          </a:p>
        </p:txBody>
      </p:sp>
      <p:pic>
        <p:nvPicPr>
          <p:cNvPr id="6" name="Picture 5" descr="screen_checkin_elev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371600"/>
            <a:ext cx="3413455" cy="87295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0" y="5394960"/>
            <a:ext cx="34134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Inter"/>
              </a:defRPr>
            </a:pPr>
            <a:r>
              <a:t>2. Anti-Coercion Check-In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Discreet countdown prompt triggered upon elevated risk anomalies.</a:t>
            </a:r>
          </a:p>
        </p:txBody>
      </p:sp>
      <p:pic>
        <p:nvPicPr>
          <p:cNvPr id="8" name="Picture 7" descr="screen_sos_mod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71600"/>
            <a:ext cx="3413455" cy="22667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5394960"/>
            <a:ext cx="34134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Inter"/>
              </a:defRPr>
            </a:pPr>
            <a:r>
              <a:t>3. Emergency SOS &amp; Direct Dispatch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Inter"/>
              </a:defRPr>
            </a:pPr>
            <a:r>
              <a:t>Tap-to-call links (112, 100) and strict safe-word disarm authentication.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Inter"/>
              </a:defRPr>
            </a:pPr>
            <a:r>
              <a:t>TECHNICAL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Architecture: 100% On-Device &amp; Zero Backend Attack Surface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13455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956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Inter"/>
              </a:defRPr>
            </a:pPr>
            <a:r>
              <a:t>📡 Real Browser Telemetry</a:t>
            </a:r>
          </a:p>
          <a:p>
            <a:pPr>
              <a:spcBef>
                <a:spcPts val="1200"/>
              </a:spcBef>
              <a:defRPr sz="1250">
                <a:solidFill>
                  <a:srgbClr val="94A3B8"/>
                </a:solidFill>
                <a:latin typeface="Inter"/>
              </a:defRPr>
            </a:pPr>
            <a:r>
              <a:t>• System Clock API (Diurnal Day/Night)</a:t>
            </a:r>
            <a:br/>
            <a:r>
              <a:t>• Geolocation API (Haversine Velocity, Stillness)</a:t>
            </a:r>
            <a:br/>
            <a:r>
              <a:t>• Battery Status API (Level &amp; Anomaly Gradient)</a:t>
            </a:r>
            <a:br/>
            <a:r>
              <a:t>• Graceful Manual Fallback Dials if restricted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3455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91640"/>
            <a:ext cx="2956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Inter"/>
              </a:defRPr>
            </a:pPr>
            <a:r>
              <a:t>⚙️ Pure Function Risk Engine</a:t>
            </a:r>
          </a:p>
          <a:p>
            <a:pPr>
              <a:spcBef>
                <a:spcPts val="1200"/>
              </a:spcBef>
              <a:defRPr sz="1250">
                <a:solidFill>
                  <a:srgbClr val="94A3B8"/>
                </a:solidFill>
                <a:latin typeface="Inter"/>
              </a:defRPr>
            </a:pPr>
            <a:r>
              <a:t>• Zero DOM, Zero React State, Zero External API</a:t>
            </a:r>
            <a:br/>
            <a:r>
              <a:t>• Input: Signals Object -&gt; Output: Score &amp; Tier</a:t>
            </a:r>
            <a:br/>
            <a:r>
              <a:t>• Fully reusable across Edge Workers, React Native, Wearable OS, and backend microservices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91640"/>
            <a:ext cx="2956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Inter"/>
              </a:defRPr>
            </a:pPr>
            <a:r>
              <a:t>🔒 Local On-Device Persistence</a:t>
            </a:r>
          </a:p>
          <a:p>
            <a:pPr>
              <a:spcBef>
                <a:spcPts val="1200"/>
              </a:spcBef>
              <a:defRPr sz="1250">
                <a:solidFill>
                  <a:srgbClr val="94A3B8"/>
                </a:solidFill>
                <a:latin typeface="Inter"/>
              </a:defRPr>
            </a:pPr>
            <a:r>
              <a:t>• All safe words, contact profiles, and zones persist strictly in browser localStorage</a:t>
            </a:r>
            <a:br/>
            <a:r>
              <a:t>• Zero database tracking, zero user tracking</a:t>
            </a:r>
            <a:br/>
            <a:r>
              <a:t>• Eliminates backend credential leak vulnerabilities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Inter"/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Intellectual Honesty: Known Proof-of-Concept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Inter"/>
              </a:defRPr>
            </a:pPr>
            <a:r>
              <a:t>📡 Simulated Notification Delivery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  <a:latin typeface="Inter"/>
              </a:defRPr>
            </a:pPr>
            <a:r>
              <a:t>Trusted Circle notifications are currently simulated in the client UI. A production rollout requires dedicated SMS/Push gateways (e.g. Twilio, FCM) for off-device recipient alerting.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002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Inter"/>
              </a:defRPr>
            </a:pPr>
            <a:r>
              <a:t>🚔 Direct Dispatch Integration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  <a:latin typeface="Inter"/>
              </a:defRPr>
            </a:pPr>
            <a:r>
              <a:t>Emergency flow surfaces native tap-to-call links (112, 100 in India). Automated PSAP dispatch integration requires governmental and public-safety institutional partnerships.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5257800" cy="2240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Inter"/>
              </a:defRPr>
            </a:pPr>
            <a:r>
              <a:t>🗺️ Area Crime Statistics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  <a:latin typeface="Inter"/>
              </a:defRPr>
            </a:pPr>
            <a:r>
              <a:t>Route familiarity is currently derived from user-saved geofenced zones. Integrating macro historical incident crime data (e.g. NCRB records) remains future scope.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794760"/>
            <a:ext cx="5257800" cy="2240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02336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Inter"/>
              </a:defRPr>
            </a:pPr>
            <a:r>
              <a:t>🛡️ Physical Coercion Ceiling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  <a:latin typeface="Inter"/>
              </a:defRPr>
            </a:pPr>
            <a:r>
              <a:t>Software cannot physically stop a determined in-person assailant. Safe-word protocols significantly raise the barrier to spoofing, but have physical real-world limits.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Inter"/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Inter"/>
              </a:defRPr>
            </a:pPr>
            <a:r>
              <a:t>Engineering Roadmap &amp; Production Extensions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8132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Inter"/>
              </a:defRPr>
            </a:pPr>
            <a:r>
              <a:t>📊 Predictive NCRB Crime Heatmaps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Inter"/>
              </a:defRPr>
            </a:pPr>
            <a:r>
              <a:t>Ingesting historical police precinct records to automatically adjust geographical baseline risk without manual user geofencing.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59152"/>
            <a:ext cx="10728655" cy="868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Inter"/>
              </a:defRPr>
            </a:pPr>
            <a:r>
              <a:t>🎙️ Ambient Distress Sound AI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Inter"/>
              </a:defRPr>
            </a:pPr>
            <a:r>
              <a:t>On-device lightweight audio classification (Google YAMNet) detecting screams or breaking glass as an emergency signal without storing audio.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46704"/>
            <a:ext cx="10728655" cy="868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456432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Inter"/>
              </a:defRPr>
            </a:pPr>
            <a:r>
              <a:t>👆 Duress-Specific Biometrics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Inter"/>
              </a:defRPr>
            </a:pPr>
            <a:r>
              <a:t>Alternate fingerprint or disguised spoken phrases that visually appear to confirm safety to an attacker but silently trigger emergency escalation.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34256"/>
            <a:ext cx="10728655" cy="868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443984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Inter"/>
              </a:defRPr>
            </a:pPr>
            <a:r>
              <a:t>⌚ Wearable Sensor Integration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Inter"/>
              </a:defRPr>
            </a:pPr>
            <a:r>
              <a:t>Smartwatch biometric monitoring (heart-rate spikes, sudden fall acceleration) and discreet physical confirmation tap gestures.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21808"/>
            <a:ext cx="10728655" cy="868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431536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Inter"/>
              </a:defRPr>
            </a:pPr>
            <a:r>
              <a:t>💬 Dedicated Messaging Gateway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Inter"/>
              </a:defRPr>
            </a:pPr>
            <a:r>
              <a:t>End-to-end encrypted SMS &amp; automated voice dispatch through carrier gateways to deliver reliable alerts in low-connectivity areas.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9728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Inter"/>
              </a:defRPr>
            </a:pPr>
            <a:r>
              <a:t>Aurora: Safety Built for Reality</a:t>
            </a:r>
          </a:p>
          <a:p>
            <a:pPr>
              <a:spcBef>
                <a:spcPts val="800"/>
              </a:spcBef>
              <a:defRPr sz="1800">
                <a:solidFill>
                  <a:srgbClr val="38BDF8"/>
                </a:solidFill>
                <a:latin typeface="Inter"/>
              </a:defRPr>
            </a:pPr>
            <a:r>
              <a:t>Because in a real crisis, you should never have to remember to ask for help.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2651760"/>
            <a:ext cx="97840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834640"/>
            <a:ext cx="9235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Inter"/>
              </a:defRPr>
            </a:pPr>
            <a:r>
              <a:t>🌐 LIVE PRODUCTION APP:</a:t>
            </a:r>
          </a:p>
          <a:p>
            <a:pPr>
              <a:spcBef>
                <a:spcPts val="200"/>
              </a:spcBef>
              <a:defRPr sz="1600" b="1">
                <a:solidFill>
                  <a:srgbClr val="F8FAFC"/>
                </a:solidFill>
                <a:latin typeface="Inter"/>
              </a:defRPr>
            </a:pPr>
            <a:r>
              <a:t>https://safesignal-five.vercel.app</a:t>
            </a:r>
          </a:p>
          <a:p>
            <a:pPr>
              <a:spcBef>
                <a:spcPts val="1000"/>
              </a:spcBef>
              <a:defRPr sz="1300" b="1">
                <a:solidFill>
                  <a:srgbClr val="38BDF8"/>
                </a:solidFill>
                <a:latin typeface="Inter"/>
              </a:defRPr>
            </a:pPr>
            <a:r>
              <a:t>📦 GITHUB REPOSITORY (PUBLIC):</a:t>
            </a:r>
          </a:p>
          <a:p>
            <a:pPr>
              <a:spcBef>
                <a:spcPts val="200"/>
              </a:spcBef>
              <a:defRPr sz="1600" b="1">
                <a:solidFill>
                  <a:srgbClr val="F8FAFC"/>
                </a:solidFill>
                <a:latin typeface="Inter"/>
              </a:defRPr>
            </a:pPr>
            <a:r>
              <a:t>https://github.com/KavyaSingla244/Aurora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754880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Inter"/>
              </a:defRPr>
            </a:pPr>
            <a:r>
              <a:t>Ready for immediate evaluation • Includes interactive Judge Scenario Preset injector &amp; live GPS feeds.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